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883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221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594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648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31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143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99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618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403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283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0133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1414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365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5091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1140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2130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834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730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ADA7D-B90D-1809-3E7A-A21CA69D3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95" y="415180"/>
            <a:ext cx="4391025" cy="132343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000" b="1" kern="1200" cap="none" dirty="0">
                <a:ln w="9525">
                  <a:solidFill>
                    <a:schemeClr val="bg2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ptos Display" panose="020B0004020202020204" pitchFamily="34" charset="0"/>
                <a:ea typeface="ADLaM Display" panose="02010000000000000000" pitchFamily="2" charset="77"/>
                <a:cs typeface="ADLaM Display" panose="02010000000000000000" pitchFamily="2" charset="77"/>
              </a:rPr>
              <a:t>The Equifax Data Breach (2017) </a:t>
            </a:r>
            <a:endParaRPr lang="en-US" sz="4000" kern="1200" dirty="0">
              <a:ln w="3175" cmpd="sng">
                <a:solidFill>
                  <a:schemeClr val="bg2"/>
                </a:solidFill>
              </a:ln>
              <a:solidFill>
                <a:schemeClr val="bg1"/>
              </a:solidFill>
              <a:latin typeface="Aptos Display" panose="020B0004020202020204" pitchFamily="34" charset="0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58832-E140-745E-835D-B19496EFD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28296" y="3300486"/>
            <a:ext cx="4391025" cy="2069848"/>
          </a:xfrm>
        </p:spPr>
        <p:txBody>
          <a:bodyPr vert="horz" lIns="91440" tIns="45720" rIns="91440" bIns="45720" rtlCol="0">
            <a:normAutofit fontScale="25000" lnSpcReduction="20000"/>
          </a:bodyPr>
          <a:lstStyle/>
          <a:p>
            <a:r>
              <a:rPr lang="en-CA" sz="7200" b="1" i="1" cap="non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What Happened?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CA" sz="8000" cap="non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 Display" panose="020B0004020202020204" pitchFamily="34" charset="0"/>
              </a:rPr>
              <a:t>In 2017, Equifax, a major credit reporting company experienced a significant data breach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CA" sz="8000" cap="non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 Display" panose="020B0004020202020204" pitchFamily="34" charset="0"/>
              </a:rPr>
              <a:t>Hackers exploited an unpatched vulnerability in Apache Struts (CVE-2017-5638), a Java web application framework.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CA" sz="8000" cap="non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 Display" panose="020B0004020202020204" pitchFamily="34" charset="0"/>
              </a:rPr>
              <a:t>Breach occurred between May and July of 2017 (publicly disclosed in September 2017).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CA" sz="8000" cap="non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 Display" panose="020B0004020202020204" pitchFamily="34" charset="0"/>
              </a:rPr>
              <a:t>Although a security patch was available in March 2017, Equifax failed to apply it to the affected system. 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CA" sz="4800" cap="none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 Display" panose="020B0004020202020204" pitchFamily="34" charset="0"/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CA" sz="4400" cap="none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 Display" panose="020B0004020202020204" pitchFamily="34" charset="0"/>
            </a:endParaRPr>
          </a:p>
          <a:p>
            <a:r>
              <a:rPr lang="en-CA" sz="4400" i="1" cap="non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 Display" panose="020B0004020202020204" pitchFamily="34" charset="0"/>
              </a:rPr>
              <a:t>Source: U.S. Government Accountability Office (2018)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B6EC88-7514-8B10-2A5E-44374048C8A9}"/>
              </a:ext>
            </a:extLst>
          </p:cNvPr>
          <p:cNvSpPr txBox="1"/>
          <p:nvPr/>
        </p:nvSpPr>
        <p:spPr>
          <a:xfrm>
            <a:off x="5219323" y="481972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pic>
        <p:nvPicPr>
          <p:cNvPr id="23" name="Picture Placeholder 22">
            <a:extLst>
              <a:ext uri="{FF2B5EF4-FFF2-40B4-BE49-F238E27FC236}">
                <a16:creationId xmlns:a16="http://schemas.microsoft.com/office/drawing/2014/main" id="{6B923A4D-9880-0960-B2C9-E497E3600B5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7" r="2587"/>
          <a:stretch/>
        </p:blipFill>
        <p:spPr>
          <a:xfrm>
            <a:off x="5645150" y="-19050"/>
            <a:ext cx="6546850" cy="6904038"/>
          </a:xfrm>
          <a:prstGeom prst="rect">
            <a:avLst/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</p:pic>
      <p:pic>
        <p:nvPicPr>
          <p:cNvPr id="15" name="Audio 14">
            <a:hlinkClick r:id="" action="ppaction://media"/>
            <a:extLst>
              <a:ext uri="{FF2B5EF4-FFF2-40B4-BE49-F238E27FC236}">
                <a16:creationId xmlns:a16="http://schemas.microsoft.com/office/drawing/2014/main" id="{FDA5E695-A197-7B99-C231-DED1CA557D5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2102487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16056">
        <p14:flip dir="r"/>
      </p:transition>
    </mc:Choice>
    <mc:Fallback>
      <p:transition spd="slow" advTm="1605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F3555-2695-40BD-14CA-E9A988D4E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1088" y="75039"/>
            <a:ext cx="5646420" cy="455903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3200" b="1" dirty="0">
                <a:latin typeface="Aptos Display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Impact &amp; Lessons Learned 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83FDA914-0CA2-24FC-FBFD-7DDECC031E2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090"/>
          <a:stretch>
            <a:fillRect/>
          </a:stretch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AB93D6-EE69-BBCE-8399-FFC9450BA4D3}"/>
              </a:ext>
            </a:extLst>
          </p:cNvPr>
          <p:cNvSpPr txBox="1"/>
          <p:nvPr/>
        </p:nvSpPr>
        <p:spPr>
          <a:xfrm>
            <a:off x="6400790" y="1238828"/>
            <a:ext cx="564642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Aptos Display" panose="020B0004020202020204" pitchFamily="34" charset="0"/>
              </a:rPr>
              <a:t>Financial Impact</a:t>
            </a:r>
          </a:p>
          <a:p>
            <a:r>
              <a:rPr lang="en-US" dirty="0">
                <a:latin typeface="Aptos Display" panose="020B0004020202020204" pitchFamily="34" charset="0"/>
              </a:rPr>
              <a:t>-    </a:t>
            </a:r>
            <a:r>
              <a:rPr lang="en-US" b="1" u="sng" dirty="0">
                <a:latin typeface="Aptos Display" panose="020B0004020202020204" pitchFamily="34" charset="0"/>
              </a:rPr>
              <a:t> </a:t>
            </a:r>
            <a:r>
              <a:rPr lang="en-US" dirty="0">
                <a:latin typeface="Aptos Display" panose="020B0004020202020204" pitchFamily="34" charset="0"/>
              </a:rPr>
              <a:t>In 2019 Equifax agreed to a settlement of at least $575   million following the breach</a:t>
            </a:r>
            <a:endParaRPr lang="en-US" b="1" u="sng" dirty="0">
              <a:latin typeface="Aptos Display" panose="020B0004020202020204" pitchFamily="34" charset="0"/>
            </a:endParaRPr>
          </a:p>
          <a:p>
            <a:r>
              <a:rPr lang="en-US" b="1" u="sng" dirty="0">
                <a:latin typeface="Aptos Display" panose="020B0004020202020204" pitchFamily="34" charset="0"/>
              </a:rPr>
              <a:t>Compromised Personal Information</a:t>
            </a:r>
          </a:p>
          <a:p>
            <a:pPr marL="285750" indent="-285750">
              <a:buFontTx/>
              <a:buChar char="-"/>
            </a:pPr>
            <a:r>
              <a:rPr lang="en-CA" dirty="0">
                <a:latin typeface="Aptos Display" panose="020B0004020202020204" pitchFamily="34" charset="0"/>
              </a:rPr>
              <a:t>The breach exposed sensitive consumer information, including names, date of birth, residential addresses, and Social Security numbers</a:t>
            </a:r>
          </a:p>
          <a:p>
            <a:pPr marL="285750" indent="-285750">
              <a:buFontTx/>
              <a:buChar char="-"/>
            </a:pPr>
            <a:r>
              <a:rPr lang="en-CA" dirty="0">
                <a:latin typeface="Aptos Display" panose="020B0004020202020204" pitchFamily="34" charset="0"/>
              </a:rPr>
              <a:t>Unauthorized disclosure of personal data increased the potential for identity theft and financial fraud</a:t>
            </a:r>
          </a:p>
          <a:p>
            <a:endParaRPr lang="en-CA" dirty="0">
              <a:latin typeface="Aptos Display" panose="020B0004020202020204" pitchFamily="34" charset="0"/>
            </a:endParaRPr>
          </a:p>
          <a:p>
            <a:r>
              <a:rPr lang="en-CA" b="1" u="sng" dirty="0">
                <a:latin typeface="Aptos Display" panose="020B0004020202020204" pitchFamily="34" charset="0"/>
              </a:rPr>
              <a:t>Implications for Software Development</a:t>
            </a:r>
          </a:p>
          <a:p>
            <a:pPr marL="285750" indent="-285750">
              <a:buFontTx/>
              <a:buChar char="-"/>
            </a:pPr>
            <a:r>
              <a:rPr lang="en-CA" b="1" i="1" dirty="0">
                <a:solidFill>
                  <a:srgbClr val="0070C0"/>
                </a:solidFill>
                <a:latin typeface="Aptos Display" panose="020B0004020202020204" pitchFamily="34" charset="0"/>
              </a:rPr>
              <a:t>Timely Security Updates</a:t>
            </a:r>
            <a:r>
              <a:rPr lang="en-CA" b="1" i="1" dirty="0">
                <a:latin typeface="Aptos Display" panose="020B0004020202020204" pitchFamily="34" charset="0"/>
              </a:rPr>
              <a:t>: </a:t>
            </a:r>
            <a:r>
              <a:rPr lang="en-CA" dirty="0">
                <a:latin typeface="Aptos Display" panose="020B0004020202020204" pitchFamily="34" charset="0"/>
              </a:rPr>
              <a:t>Ensure security patches are implemented promptly to mitigate known vulnerabilities</a:t>
            </a:r>
          </a:p>
          <a:p>
            <a:pPr marL="285750" indent="-285750">
              <a:buFontTx/>
              <a:buChar char="-"/>
            </a:pPr>
            <a:r>
              <a:rPr lang="en-CA" b="1" i="1" dirty="0">
                <a:solidFill>
                  <a:srgbClr val="0070C0"/>
                </a:solidFill>
                <a:latin typeface="Aptos Display" panose="020B0004020202020204" pitchFamily="34" charset="0"/>
              </a:rPr>
              <a:t>Vulnerability Management: </a:t>
            </a:r>
            <a:r>
              <a:rPr lang="en-CA" dirty="0">
                <a:latin typeface="Aptos Display" panose="020B0004020202020204" pitchFamily="34" charset="0"/>
              </a:rPr>
              <a:t>Conduct routine security assessments to identify and remediate potential weaknesses</a:t>
            </a:r>
          </a:p>
          <a:p>
            <a:pPr marL="285750" indent="-285750">
              <a:buFontTx/>
              <a:buChar char="-"/>
            </a:pPr>
            <a:r>
              <a:rPr lang="en-CA" b="1" i="1" dirty="0">
                <a:solidFill>
                  <a:srgbClr val="0070C0"/>
                </a:solidFill>
                <a:latin typeface="Aptos Display" panose="020B0004020202020204" pitchFamily="34" charset="0"/>
              </a:rPr>
              <a:t>Data Protection</a:t>
            </a:r>
            <a:r>
              <a:rPr lang="en-CA" dirty="0">
                <a:latin typeface="Aptos Display" panose="020B0004020202020204" pitchFamily="34" charset="0"/>
              </a:rPr>
              <a:t>: Establish comprehensive cybersecurity protocols to safeguard sensitive information and prevent unauthorized access.</a:t>
            </a:r>
          </a:p>
          <a:p>
            <a:pPr algn="ctr"/>
            <a:r>
              <a:rPr lang="en-CA" sz="1400" i="1" dirty="0">
                <a:latin typeface="Aptos Display" panose="020B0004020202020204" pitchFamily="34" charset="0"/>
              </a:rPr>
              <a:t>Source: Federal Trade Commission (2019)</a:t>
            </a:r>
          </a:p>
          <a:p>
            <a:endParaRPr lang="en-CA" dirty="0">
              <a:latin typeface="Aptos Display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9F20EE-6F50-51C4-9667-FB56E864BE8D}"/>
              </a:ext>
            </a:extLst>
          </p:cNvPr>
          <p:cNvSpPr/>
          <p:nvPr/>
        </p:nvSpPr>
        <p:spPr>
          <a:xfrm>
            <a:off x="6669856" y="530942"/>
            <a:ext cx="4748883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i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 Black" panose="020B0A04020102020204" pitchFamily="34" charset="0"/>
                <a:ea typeface="ADLaM Display" panose="02010000000000000000" pitchFamily="2" charset="0"/>
                <a:cs typeface="Aharoni" panose="020F0502020204030204" pitchFamily="2" charset="-79"/>
              </a:rPr>
              <a:t>Approximately 147 Million Individuals Affected</a:t>
            </a:r>
            <a:endParaRPr lang="en-CA" sz="2000" b="1" i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15" name="Audio 14">
            <a:hlinkClick r:id="" action="ppaction://media"/>
            <a:extLst>
              <a:ext uri="{FF2B5EF4-FFF2-40B4-BE49-F238E27FC236}">
                <a16:creationId xmlns:a16="http://schemas.microsoft.com/office/drawing/2014/main" id="{65EB2BDA-57B2-D9F3-A5EA-F2AC3C874EF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6519714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092"/>
    </mc:Choice>
    <mc:Fallback>
      <p:transition spd="slow" advTm="180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C652CFBF13994FBD9838C240BCCDF0" ma:contentTypeVersion="5" ma:contentTypeDescription="Create a new document." ma:contentTypeScope="" ma:versionID="a01ea14656dda827e790c55941a72a7f">
  <xsd:schema xmlns:xsd="http://www.w3.org/2001/XMLSchema" xmlns:xs="http://www.w3.org/2001/XMLSchema" xmlns:p="http://schemas.microsoft.com/office/2006/metadata/properties" xmlns:ns3="68bbd309-7726-4af3-9962-98336f168603" targetNamespace="http://schemas.microsoft.com/office/2006/metadata/properties" ma:root="true" ma:fieldsID="d05f8a00b5a845640011278502640680" ns3:_="">
    <xsd:import namespace="68bbd309-7726-4af3-9962-98336f16860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bbd309-7726-4af3-9962-98336f16860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8bbd309-7726-4af3-9962-98336f16860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EE3D6DE-FBBD-4DFE-9E22-0803822A43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bbd309-7726-4af3-9962-98336f16860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D550BA1-45A0-4C20-A91F-AEE7F3AC4B33}">
  <ds:schemaRefs>
    <ds:schemaRef ds:uri="http://purl.org/dc/terms/"/>
    <ds:schemaRef ds:uri="68bbd309-7726-4af3-9962-98336f168603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988640B-9A81-4911-8CA6-A3CB5E81C79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2686</TotalTime>
  <Words>210</Words>
  <Application>Microsoft Office PowerPoint</Application>
  <PresentationFormat>Widescreen</PresentationFormat>
  <Paragraphs>22</Paragraphs>
  <Slides>2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ADLaM Display</vt:lpstr>
      <vt:lpstr>Aptos Display</vt:lpstr>
      <vt:lpstr>Arial</vt:lpstr>
      <vt:lpstr>Arial Black</vt:lpstr>
      <vt:lpstr>Century Gothic</vt:lpstr>
      <vt:lpstr>Mesh</vt:lpstr>
      <vt:lpstr>The Equifax Data Breach (2017) </vt:lpstr>
      <vt:lpstr>Impact &amp; Lessons Learned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Equifax Data Breach (2017)</dc:title>
  <dc:creator>Danielle Lampitoc</dc:creator>
  <cp:lastModifiedBy>Danielle Lampitoc</cp:lastModifiedBy>
  <cp:revision>5</cp:revision>
  <dcterms:created xsi:type="dcterms:W3CDTF">2026-10-18T01:32:05Z</dcterms:created>
  <dcterms:modified xsi:type="dcterms:W3CDTF">2026-10-20T01:43:13Z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0x010100B6C652CFBF13994FBD9838C240BCCDF0</vt:lpwstr>
  </property>
</Properties>
</file>